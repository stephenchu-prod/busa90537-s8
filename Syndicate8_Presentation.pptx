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3" r:id="rId22"/>
  </p:sldIdLst>
  <p:sldSz cx="18288000" cy="10287000"/>
  <p:notesSz cx="6858000" cy="9144000"/>
  <p:embeddedFontLst>
    <p:embeddedFont>
      <p:font typeface="Archivo Black" panose="02020500000000000000" charset="0"/>
      <p:regular r:id="rId23"/>
    </p:embeddedFont>
    <p:embeddedFont>
      <p:font typeface="Canva Sans Bold" panose="02020500000000000000" charset="0"/>
      <p:regular r:id="rId24"/>
      <p:bold r:id="rId25"/>
    </p:embeddedFont>
    <p:embeddedFont>
      <p:font typeface="Garet" panose="02020500000000000000" charset="0"/>
      <p:regular r:id="rId26"/>
    </p:embeddedFont>
    <p:embeddedFont>
      <p:font typeface="Garet Bold" panose="02020500000000000000" charset="0"/>
      <p:regular r:id="rId27"/>
      <p:bold r:id="rId28"/>
    </p:embeddedFont>
    <p:embeddedFont>
      <p:font typeface="Garet Light" panose="02020500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4655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7885470" y="5838710"/>
            <a:ext cx="9373830" cy="71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8"/>
              </a:lnSpc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Turning Employee Data Into Performance Metrics</a:t>
            </a:r>
          </a:p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endParaRPr lang="en-US" sz="2748" spc="-21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9203690"/>
            <a:ext cx="10843877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  <a:spcBef>
                <a:spcPct val="0"/>
              </a:spcBef>
            </a:pPr>
            <a:r>
              <a:rPr lang="en-US" sz="17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  <a:r>
              <a:rPr lang="en-US" sz="17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99" u="none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GISELA VANIA ALINE, ZIMING ZHAO, JIAJIE LIAO, SHEK MING CHU, SHUANG YE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5854" y="3042842"/>
            <a:ext cx="10773446" cy="284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19"/>
              </a:lnSpc>
            </a:pPr>
            <a:r>
              <a:rPr lang="en-US" sz="6999" spc="-13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EMPLOYEE </a:t>
            </a:r>
            <a:r>
              <a:rPr lang="en-US" sz="6999" u="none" spc="-13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 ANALYSER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68701" y="990600"/>
            <a:ext cx="432108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Coding For Business Problems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30/04/2025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5470" y="6384979"/>
            <a:ext cx="9373830" cy="36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SYNDICATE GROUP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6133" y="4159449"/>
            <a:ext cx="7612316" cy="247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2378" lvl="1" indent="-476189" algn="just">
              <a:lnSpc>
                <a:spcPts val="6616"/>
              </a:lnSpc>
              <a:buFont typeface="Arial"/>
              <a:buChar char="•"/>
            </a:pPr>
            <a:r>
              <a:rPr lang="en-US" sz="44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STRUCTURE</a:t>
            </a:r>
          </a:p>
          <a:p>
            <a:pPr marL="952378" lvl="1" indent="-476189" algn="just">
              <a:lnSpc>
                <a:spcPts val="6616"/>
              </a:lnSpc>
              <a:buFont typeface="Arial"/>
              <a:buChar char="•"/>
            </a:pPr>
            <a:r>
              <a:rPr lang="en-US" sz="44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BASIC FEATURES </a:t>
            </a:r>
          </a:p>
          <a:p>
            <a:pPr marL="952378" lvl="1" indent="-476189" algn="just">
              <a:lnSpc>
                <a:spcPts val="6616"/>
              </a:lnSpc>
              <a:buFont typeface="Arial"/>
              <a:buChar char="•"/>
            </a:pPr>
            <a:r>
              <a:rPr lang="en-US" sz="44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ADDITIONAL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6133" y="3044524"/>
            <a:ext cx="15639283" cy="83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0"/>
              </a:lnSpc>
              <a:spcBef>
                <a:spcPct val="0"/>
              </a:spcBef>
            </a:pPr>
            <a:r>
              <a:rPr lang="en-US" sz="6130" spc="-12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OUTLINE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9110" y="4617095"/>
            <a:ext cx="86287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spc="-1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51162" y="1912989"/>
            <a:ext cx="5480351" cy="1155856"/>
          </a:xfrm>
          <a:custGeom>
            <a:avLst/>
            <a:gdLst/>
            <a:ahLst/>
            <a:cxnLst/>
            <a:rect l="l" t="t" r="r" b="b"/>
            <a:pathLst>
              <a:path w="5480351" h="1155856">
                <a:moveTo>
                  <a:pt x="0" y="0"/>
                </a:moveTo>
                <a:lnTo>
                  <a:pt x="5480351" y="0"/>
                </a:lnTo>
                <a:lnTo>
                  <a:pt x="5480351" y="1155856"/>
                </a:lnTo>
                <a:lnTo>
                  <a:pt x="0" y="1155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265655" y="5083138"/>
            <a:ext cx="1927702" cy="795615"/>
          </a:xfrm>
          <a:custGeom>
            <a:avLst/>
            <a:gdLst/>
            <a:ahLst/>
            <a:cxnLst/>
            <a:rect l="l" t="t" r="r" b="b"/>
            <a:pathLst>
              <a:path w="1927702" h="795615">
                <a:moveTo>
                  <a:pt x="0" y="0"/>
                </a:moveTo>
                <a:lnTo>
                  <a:pt x="1927703" y="0"/>
                </a:lnTo>
                <a:lnTo>
                  <a:pt x="1927703" y="795615"/>
                </a:lnTo>
                <a:lnTo>
                  <a:pt x="0" y="79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425166" y="5143500"/>
            <a:ext cx="1720644" cy="710157"/>
          </a:xfrm>
          <a:custGeom>
            <a:avLst/>
            <a:gdLst/>
            <a:ahLst/>
            <a:cxnLst/>
            <a:rect l="l" t="t" r="r" b="b"/>
            <a:pathLst>
              <a:path w="1720644" h="710157">
                <a:moveTo>
                  <a:pt x="0" y="0"/>
                </a:moveTo>
                <a:lnTo>
                  <a:pt x="1720644" y="0"/>
                </a:lnTo>
                <a:lnTo>
                  <a:pt x="1720644" y="710157"/>
                </a:lnTo>
                <a:lnTo>
                  <a:pt x="0" y="710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3716493" y="4367109"/>
            <a:ext cx="1720644" cy="710157"/>
          </a:xfrm>
          <a:custGeom>
            <a:avLst/>
            <a:gdLst/>
            <a:ahLst/>
            <a:cxnLst/>
            <a:rect l="l" t="t" r="r" b="b"/>
            <a:pathLst>
              <a:path w="1720644" h="710157">
                <a:moveTo>
                  <a:pt x="0" y="0"/>
                </a:moveTo>
                <a:lnTo>
                  <a:pt x="1720644" y="0"/>
                </a:lnTo>
                <a:lnTo>
                  <a:pt x="1720644" y="710157"/>
                </a:lnTo>
                <a:lnTo>
                  <a:pt x="0" y="710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flipV="1">
            <a:off x="12263641" y="6022842"/>
            <a:ext cx="0" cy="32070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6450303" y="6226140"/>
            <a:ext cx="4894066" cy="3003716"/>
          </a:xfrm>
          <a:custGeom>
            <a:avLst/>
            <a:gdLst/>
            <a:ahLst/>
            <a:cxnLst/>
            <a:rect l="l" t="t" r="r" b="b"/>
            <a:pathLst>
              <a:path w="4894066" h="3003716">
                <a:moveTo>
                  <a:pt x="0" y="0"/>
                </a:moveTo>
                <a:lnTo>
                  <a:pt x="4894066" y="0"/>
                </a:lnTo>
                <a:lnTo>
                  <a:pt x="4894066" y="3003717"/>
                </a:lnTo>
                <a:lnTo>
                  <a:pt x="0" y="3003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1" r="-11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1576547" y="5337923"/>
            <a:ext cx="6353665" cy="4662002"/>
          </a:xfrm>
          <a:custGeom>
            <a:avLst/>
            <a:gdLst/>
            <a:ahLst/>
            <a:cxnLst/>
            <a:rect l="l" t="t" r="r" b="b"/>
            <a:pathLst>
              <a:path w="6353665" h="4662002">
                <a:moveTo>
                  <a:pt x="0" y="0"/>
                </a:moveTo>
                <a:lnTo>
                  <a:pt x="6353665" y="0"/>
                </a:lnTo>
                <a:lnTo>
                  <a:pt x="6353665" y="4662002"/>
                </a:lnTo>
                <a:lnTo>
                  <a:pt x="0" y="46620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 flipH="1">
            <a:off x="5304538" y="3704797"/>
            <a:ext cx="9233283" cy="172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9201889" y="3068845"/>
            <a:ext cx="27617" cy="20142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5285488" y="3722054"/>
            <a:ext cx="0" cy="14214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4537821" y="3704797"/>
            <a:ext cx="0" cy="6771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298008" y="6394871"/>
            <a:ext cx="4583661" cy="2548106"/>
          </a:xfrm>
          <a:custGeom>
            <a:avLst/>
            <a:gdLst/>
            <a:ahLst/>
            <a:cxnLst/>
            <a:rect l="l" t="t" r="r" b="b"/>
            <a:pathLst>
              <a:path w="4583661" h="2548106">
                <a:moveTo>
                  <a:pt x="0" y="0"/>
                </a:moveTo>
                <a:lnTo>
                  <a:pt x="4583661" y="0"/>
                </a:lnTo>
                <a:lnTo>
                  <a:pt x="4583661" y="2548106"/>
                </a:lnTo>
                <a:lnTo>
                  <a:pt x="0" y="25481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2404269" y="1217498"/>
            <a:ext cx="5525942" cy="2279451"/>
          </a:xfrm>
          <a:custGeom>
            <a:avLst/>
            <a:gdLst/>
            <a:ahLst/>
            <a:cxnLst/>
            <a:rect l="l" t="t" r="r" b="b"/>
            <a:pathLst>
              <a:path w="5525942" h="2279451">
                <a:moveTo>
                  <a:pt x="0" y="0"/>
                </a:moveTo>
                <a:lnTo>
                  <a:pt x="5525943" y="0"/>
                </a:lnTo>
                <a:lnTo>
                  <a:pt x="5525943" y="2279451"/>
                </a:lnTo>
                <a:lnTo>
                  <a:pt x="0" y="22794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359925" y="1316627"/>
            <a:ext cx="4177003" cy="3631181"/>
          </a:xfrm>
          <a:custGeom>
            <a:avLst/>
            <a:gdLst/>
            <a:ahLst/>
            <a:cxnLst/>
            <a:rect l="l" t="t" r="r" b="b"/>
            <a:pathLst>
              <a:path w="4177003" h="3631181">
                <a:moveTo>
                  <a:pt x="0" y="0"/>
                </a:moveTo>
                <a:lnTo>
                  <a:pt x="4177003" y="0"/>
                </a:lnTo>
                <a:lnTo>
                  <a:pt x="4177003" y="3631181"/>
                </a:lnTo>
                <a:lnTo>
                  <a:pt x="0" y="3631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08" r="-180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7668309" y="2267257"/>
            <a:ext cx="3446055" cy="414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81"/>
              </a:lnSpc>
              <a:spcBef>
                <a:spcPct val="0"/>
              </a:spcBef>
            </a:pPr>
            <a:r>
              <a:rPr lang="en-US" sz="2524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Three main  Object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40629" y="5257222"/>
            <a:ext cx="1777754" cy="450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Analyser</a:t>
            </a:r>
            <a:endParaRPr lang="en-US" sz="27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81049" y="5257222"/>
            <a:ext cx="1608877" cy="450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42235" y="4497593"/>
            <a:ext cx="869161" cy="450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0808" y="53721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 Oriented Program (OOP)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2031" y="1845687"/>
            <a:ext cx="5955630" cy="2843603"/>
          </a:xfrm>
          <a:custGeom>
            <a:avLst/>
            <a:gdLst/>
            <a:ahLst/>
            <a:cxnLst/>
            <a:rect l="l" t="t" r="r" b="b"/>
            <a:pathLst>
              <a:path w="5955630" h="2843603">
                <a:moveTo>
                  <a:pt x="0" y="0"/>
                </a:moveTo>
                <a:lnTo>
                  <a:pt x="5955630" y="0"/>
                </a:lnTo>
                <a:lnTo>
                  <a:pt x="5955630" y="2843604"/>
                </a:lnTo>
                <a:lnTo>
                  <a:pt x="0" y="284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617816" y="2800761"/>
            <a:ext cx="4444060" cy="727210"/>
          </a:xfrm>
          <a:custGeom>
            <a:avLst/>
            <a:gdLst/>
            <a:ahLst/>
            <a:cxnLst/>
            <a:rect l="l" t="t" r="r" b="b"/>
            <a:pathLst>
              <a:path w="4444060" h="727210">
                <a:moveTo>
                  <a:pt x="0" y="0"/>
                </a:moveTo>
                <a:lnTo>
                  <a:pt x="4444060" y="0"/>
                </a:lnTo>
                <a:lnTo>
                  <a:pt x="4444060" y="727210"/>
                </a:lnTo>
                <a:lnTo>
                  <a:pt x="0" y="727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121811" y="3585121"/>
            <a:ext cx="5436070" cy="889539"/>
          </a:xfrm>
          <a:custGeom>
            <a:avLst/>
            <a:gdLst/>
            <a:ahLst/>
            <a:cxnLst/>
            <a:rect l="l" t="t" r="r" b="b"/>
            <a:pathLst>
              <a:path w="5436070" h="889539">
                <a:moveTo>
                  <a:pt x="0" y="0"/>
                </a:moveTo>
                <a:lnTo>
                  <a:pt x="5436070" y="0"/>
                </a:lnTo>
                <a:lnTo>
                  <a:pt x="5436070" y="889539"/>
                </a:lnTo>
                <a:lnTo>
                  <a:pt x="0" y="889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59784" y="2045631"/>
            <a:ext cx="3003388" cy="1434012"/>
          </a:xfrm>
          <a:custGeom>
            <a:avLst/>
            <a:gdLst/>
            <a:ahLst/>
            <a:cxnLst/>
            <a:rect l="l" t="t" r="r" b="b"/>
            <a:pathLst>
              <a:path w="3003388" h="1434012">
                <a:moveTo>
                  <a:pt x="0" y="0"/>
                </a:moveTo>
                <a:lnTo>
                  <a:pt x="3003388" y="0"/>
                </a:lnTo>
                <a:lnTo>
                  <a:pt x="3003388" y="1434012"/>
                </a:lnTo>
                <a:lnTo>
                  <a:pt x="0" y="1434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flipH="1">
            <a:off x="3727764" y="2725031"/>
            <a:ext cx="878476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420039" y="5550374"/>
            <a:ext cx="4862933" cy="2007065"/>
          </a:xfrm>
          <a:custGeom>
            <a:avLst/>
            <a:gdLst/>
            <a:ahLst/>
            <a:cxnLst/>
            <a:rect l="l" t="t" r="r" b="b"/>
            <a:pathLst>
              <a:path w="4862933" h="2007065">
                <a:moveTo>
                  <a:pt x="0" y="0"/>
                </a:moveTo>
                <a:lnTo>
                  <a:pt x="4862933" y="0"/>
                </a:lnTo>
                <a:lnTo>
                  <a:pt x="4862933" y="2007065"/>
                </a:lnTo>
                <a:lnTo>
                  <a:pt x="0" y="2007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 flipV="1">
            <a:off x="5531533" y="4780321"/>
            <a:ext cx="0" cy="679023"/>
          </a:xfrm>
          <a:prstGeom prst="line">
            <a:avLst/>
          </a:prstGeom>
          <a:ln w="13335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497546" y="8333658"/>
            <a:ext cx="3199906" cy="1527843"/>
          </a:xfrm>
          <a:custGeom>
            <a:avLst/>
            <a:gdLst/>
            <a:ahLst/>
            <a:cxnLst/>
            <a:rect l="l" t="t" r="r" b="b"/>
            <a:pathLst>
              <a:path w="3199906" h="1527843">
                <a:moveTo>
                  <a:pt x="0" y="0"/>
                </a:moveTo>
                <a:lnTo>
                  <a:pt x="3199906" y="0"/>
                </a:lnTo>
                <a:lnTo>
                  <a:pt x="3199906" y="1527843"/>
                </a:lnTo>
                <a:lnTo>
                  <a:pt x="0" y="15278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7610609" y="5758330"/>
            <a:ext cx="2857684" cy="1364443"/>
          </a:xfrm>
          <a:custGeom>
            <a:avLst/>
            <a:gdLst/>
            <a:ahLst/>
            <a:cxnLst/>
            <a:rect l="l" t="t" r="r" b="b"/>
            <a:pathLst>
              <a:path w="2857684" h="1364443">
                <a:moveTo>
                  <a:pt x="0" y="0"/>
                </a:moveTo>
                <a:lnTo>
                  <a:pt x="2857684" y="0"/>
                </a:lnTo>
                <a:lnTo>
                  <a:pt x="2857684" y="1364443"/>
                </a:lnTo>
                <a:lnTo>
                  <a:pt x="0" y="1364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 flipV="1">
            <a:off x="8755236" y="7309875"/>
            <a:ext cx="0" cy="1161914"/>
          </a:xfrm>
          <a:prstGeom prst="line">
            <a:avLst/>
          </a:prstGeom>
          <a:ln w="133350" cap="flat">
            <a:solidFill>
              <a:srgbClr val="5E17E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 flipH="1" flipV="1">
            <a:off x="5598208" y="7557439"/>
            <a:ext cx="18686" cy="914350"/>
          </a:xfrm>
          <a:prstGeom prst="line">
            <a:avLst/>
          </a:prstGeom>
          <a:ln w="13335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 flipV="1">
            <a:off x="2369849" y="7557439"/>
            <a:ext cx="17859" cy="736357"/>
          </a:xfrm>
          <a:prstGeom prst="line">
            <a:avLst/>
          </a:prstGeom>
          <a:ln w="13335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4142593" y="8471789"/>
            <a:ext cx="6176213" cy="1302619"/>
          </a:xfrm>
          <a:custGeom>
            <a:avLst/>
            <a:gdLst/>
            <a:ahLst/>
            <a:cxnLst/>
            <a:rect l="l" t="t" r="r" b="b"/>
            <a:pathLst>
              <a:path w="6176213" h="1302619">
                <a:moveTo>
                  <a:pt x="0" y="0"/>
                </a:moveTo>
                <a:lnTo>
                  <a:pt x="6176213" y="0"/>
                </a:lnTo>
                <a:lnTo>
                  <a:pt x="6176213" y="1302620"/>
                </a:lnTo>
                <a:lnTo>
                  <a:pt x="0" y="1302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6405747" y="2177804"/>
            <a:ext cx="1146258" cy="864904"/>
          </a:xfrm>
          <a:custGeom>
            <a:avLst/>
            <a:gdLst/>
            <a:ahLst/>
            <a:cxnLst/>
            <a:rect l="l" t="t" r="r" b="b"/>
            <a:pathLst>
              <a:path w="1146258" h="864904">
                <a:moveTo>
                  <a:pt x="0" y="0"/>
                </a:moveTo>
                <a:lnTo>
                  <a:pt x="1146258" y="0"/>
                </a:lnTo>
                <a:lnTo>
                  <a:pt x="1146258" y="864903"/>
                </a:lnTo>
                <a:lnTo>
                  <a:pt x="0" y="864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>
            <a:off x="16051806" y="4221436"/>
            <a:ext cx="1210050" cy="1258830"/>
          </a:xfrm>
          <a:custGeom>
            <a:avLst/>
            <a:gdLst/>
            <a:ahLst/>
            <a:cxnLst/>
            <a:rect l="l" t="t" r="r" b="b"/>
            <a:pathLst>
              <a:path w="1210050" h="1258830">
                <a:moveTo>
                  <a:pt x="0" y="0"/>
                </a:moveTo>
                <a:lnTo>
                  <a:pt x="1210051" y="0"/>
                </a:lnTo>
                <a:lnTo>
                  <a:pt x="1210051" y="1258830"/>
                </a:lnTo>
                <a:lnTo>
                  <a:pt x="0" y="12588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12570278" y="6695744"/>
            <a:ext cx="4080000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 encapsulation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6564553" y="6094904"/>
            <a:ext cx="1210050" cy="1258830"/>
          </a:xfrm>
          <a:custGeom>
            <a:avLst/>
            <a:gdLst/>
            <a:ahLst/>
            <a:cxnLst/>
            <a:rect l="l" t="t" r="r" b="b"/>
            <a:pathLst>
              <a:path w="1210050" h="1258830">
                <a:moveTo>
                  <a:pt x="0" y="0"/>
                </a:moveTo>
                <a:lnTo>
                  <a:pt x="1210051" y="0"/>
                </a:lnTo>
                <a:lnTo>
                  <a:pt x="1210051" y="1258830"/>
                </a:lnTo>
                <a:lnTo>
                  <a:pt x="0" y="12588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7581207" y="6449864"/>
            <a:ext cx="3026747" cy="7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432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 </a:t>
            </a:r>
            <a:r>
              <a:rPr lang="en-US" sz="243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Plotter</a:t>
            </a:r>
          </a:p>
          <a:p>
            <a:pPr algn="ctr">
              <a:lnSpc>
                <a:spcPts val="3161"/>
              </a:lnSpc>
              <a:spcBef>
                <a:spcPct val="0"/>
              </a:spcBef>
            </a:pPr>
            <a:endParaRPr lang="en-US" sz="243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0107662" y="6872279"/>
            <a:ext cx="1510485" cy="1191569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10485761" y="8953016"/>
            <a:ext cx="2841414" cy="706955"/>
          </a:xfrm>
          <a:custGeom>
            <a:avLst/>
            <a:gdLst/>
            <a:ahLst/>
            <a:cxnLst/>
            <a:rect l="l" t="t" r="r" b="b"/>
            <a:pathLst>
              <a:path w="2841414" h="706955">
                <a:moveTo>
                  <a:pt x="0" y="0"/>
                </a:moveTo>
                <a:lnTo>
                  <a:pt x="2841414" y="0"/>
                </a:lnTo>
                <a:lnTo>
                  <a:pt x="2841414" y="706955"/>
                </a:lnTo>
                <a:lnTo>
                  <a:pt x="0" y="7069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10485761" y="8089895"/>
            <a:ext cx="2841414" cy="773296"/>
          </a:xfrm>
          <a:custGeom>
            <a:avLst/>
            <a:gdLst/>
            <a:ahLst/>
            <a:cxnLst/>
            <a:rect l="l" t="t" r="r" b="b"/>
            <a:pathLst>
              <a:path w="2841414" h="773296">
                <a:moveTo>
                  <a:pt x="0" y="0"/>
                </a:moveTo>
                <a:lnTo>
                  <a:pt x="2841414" y="0"/>
                </a:lnTo>
                <a:lnTo>
                  <a:pt x="2841414" y="773296"/>
                </a:lnTo>
                <a:lnTo>
                  <a:pt x="0" y="773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3"/>
          <p:cNvSpPr txBox="1"/>
          <p:nvPr/>
        </p:nvSpPr>
        <p:spPr>
          <a:xfrm>
            <a:off x="0" y="2363716"/>
            <a:ext cx="37277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clean_data.py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33032" y="8635076"/>
            <a:ext cx="6833170" cy="39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  <a:spcBef>
                <a:spcPct val="0"/>
              </a:spcBef>
            </a:pPr>
            <a:r>
              <a:rPr lang="en-US" sz="247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main.py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75964" y="2258471"/>
            <a:ext cx="37277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299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DataSet(ABC)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22854" y="2949736"/>
            <a:ext cx="4233983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Worklogs(DataSet)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19613" y="3861346"/>
            <a:ext cx="6002398" cy="7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 </a:t>
            </a: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PerformanceReview(DataSet)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endParaRPr lang="en-US" sz="21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8419" y="2797642"/>
            <a:ext cx="3451656" cy="7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 b="1" dirty="0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 </a:t>
            </a:r>
            <a:r>
              <a:rPr lang="en-US" sz="2299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DataCleaner</a:t>
            </a:r>
            <a:endParaRPr lang="en-US" sz="22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989"/>
              </a:lnSpc>
              <a:spcBef>
                <a:spcPct val="0"/>
              </a:spcBef>
            </a:pPr>
            <a:endParaRPr lang="en-US" sz="22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722854" y="1855449"/>
            <a:ext cx="37277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dataset.py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48597" y="5929879"/>
            <a:ext cx="37277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employee_analysis.py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0070" y="8746593"/>
            <a:ext cx="2563102" cy="1681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2114" b="1" dirty="0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 </a:t>
            </a:r>
            <a:r>
              <a:rPr lang="en-US" sz="2114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TestAnalyser</a:t>
            </a:r>
            <a:r>
              <a:rPr lang="en-US" sz="2114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(</a:t>
            </a:r>
            <a:r>
              <a:rPr lang="en-US" sz="2114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unittest.TestCase</a:t>
            </a:r>
            <a:r>
              <a:rPr lang="en-US" sz="2114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</a:p>
          <a:p>
            <a:pPr algn="ctr">
              <a:lnSpc>
                <a:spcPts val="2488"/>
              </a:lnSpc>
            </a:pPr>
            <a:endParaRPr lang="en-US" sz="2114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488"/>
              </a:lnSpc>
              <a:spcBef>
                <a:spcPct val="0"/>
              </a:spcBef>
            </a:pPr>
            <a:endParaRPr lang="en-US" sz="2114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87245" y="8353240"/>
            <a:ext cx="3102830" cy="33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spcBef>
                <a:spcPct val="0"/>
              </a:spcBef>
            </a:pPr>
            <a:r>
              <a:rPr lang="en-US" sz="21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35197" y="9094524"/>
            <a:ext cx="3578303" cy="67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4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if __name__ == '__main__':</a:t>
            </a:r>
          </a:p>
          <a:p>
            <a:pPr algn="ctr">
              <a:lnSpc>
                <a:spcPts val="2702"/>
              </a:lnSpc>
              <a:spcBef>
                <a:spcPct val="0"/>
              </a:spcBef>
            </a:pPr>
            <a:endParaRPr lang="en-US" sz="2046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230699" y="5956229"/>
            <a:ext cx="37277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plot_graph.py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24825" y="1855449"/>
            <a:ext cx="4599300" cy="1287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ABC (abstract base class)</a:t>
            </a:r>
          </a:p>
          <a:p>
            <a:pPr algn="l">
              <a:lnSpc>
                <a:spcPts val="3639"/>
              </a:lnSpc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Dependency Inversion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endParaRPr lang="en-US" sz="27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316520" y="2797642"/>
            <a:ext cx="5392182" cy="1299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37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Too complex</a:t>
            </a:r>
          </a:p>
          <a:p>
            <a:pPr marL="561337" lvl="1" indent="-280669" algn="l">
              <a:lnSpc>
                <a:spcPts val="337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 not need to </a:t>
            </a:r>
            <a:r>
              <a:rPr lang="en-US" sz="2599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resue</a:t>
            </a:r>
            <a:endParaRPr lang="en-US" sz="25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61337" lvl="1" indent="-280669" algn="l">
              <a:lnSpc>
                <a:spcPts val="337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long-term maintenance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86899" y="4580095"/>
            <a:ext cx="3787187" cy="450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Pipeline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79232" y="5122081"/>
            <a:ext cx="5081088" cy="128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37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Connect a series of processing steps </a:t>
            </a:r>
          </a:p>
          <a:p>
            <a:pPr marL="561337" lvl="1" indent="-280669" algn="l">
              <a:lnSpc>
                <a:spcPts val="337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Single Responsibility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0808" y="537210"/>
            <a:ext cx="1512750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Dependency Relationship Across Object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62107" y="8583011"/>
            <a:ext cx="5043707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b="1" dirty="0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@</a:t>
            </a:r>
            <a:r>
              <a:rPr lang="en-US" sz="2199" b="1" dirty="0" err="1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Staticmethod</a:t>
            </a:r>
            <a:r>
              <a:rPr lang="en-US" sz="2199" b="1" dirty="0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1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 Plotter class: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ED1C24"/>
                </a:solidFill>
                <a:latin typeface="Garet Bold"/>
                <a:ea typeface="Garet Bold"/>
                <a:cs typeface="Garet Bold"/>
                <a:sym typeface="Garet Bold"/>
              </a:rPr>
              <a:t>No need to instance a object to call the method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73941" y="7395430"/>
            <a:ext cx="584522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e.g.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92349" y="6624569"/>
            <a:ext cx="3694660" cy="3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  <a:spcBef>
                <a:spcPct val="0"/>
              </a:spcBef>
            </a:pPr>
            <a:r>
              <a:rPr lang="en-US" sz="2279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class </a:t>
            </a:r>
            <a:r>
              <a:rPr lang="en-US" sz="227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EmployeeAnalyser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39238" y="4926012"/>
            <a:ext cx="952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808" y="2082335"/>
            <a:ext cx="12446332" cy="1042380"/>
          </a:xfrm>
          <a:custGeom>
            <a:avLst/>
            <a:gdLst/>
            <a:ahLst/>
            <a:cxnLst/>
            <a:rect l="l" t="t" r="r" b="b"/>
            <a:pathLst>
              <a:path w="12446332" h="1042380">
                <a:moveTo>
                  <a:pt x="0" y="0"/>
                </a:moveTo>
                <a:lnTo>
                  <a:pt x="12446332" y="0"/>
                </a:lnTo>
                <a:lnTo>
                  <a:pt x="12446332" y="1042381"/>
                </a:lnTo>
                <a:lnTo>
                  <a:pt x="0" y="104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564969" y="6737264"/>
            <a:ext cx="2737374" cy="744982"/>
          </a:xfrm>
          <a:custGeom>
            <a:avLst/>
            <a:gdLst/>
            <a:ahLst/>
            <a:cxnLst/>
            <a:rect l="l" t="t" r="r" b="b"/>
            <a:pathLst>
              <a:path w="2737374" h="744982">
                <a:moveTo>
                  <a:pt x="0" y="0"/>
                </a:moveTo>
                <a:lnTo>
                  <a:pt x="2737374" y="0"/>
                </a:lnTo>
                <a:lnTo>
                  <a:pt x="2737374" y="744981"/>
                </a:lnTo>
                <a:lnTo>
                  <a:pt x="0" y="744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880433" y="6749337"/>
            <a:ext cx="2737374" cy="681069"/>
          </a:xfrm>
          <a:custGeom>
            <a:avLst/>
            <a:gdLst/>
            <a:ahLst/>
            <a:cxnLst/>
            <a:rect l="l" t="t" r="r" b="b"/>
            <a:pathLst>
              <a:path w="2737374" h="681069">
                <a:moveTo>
                  <a:pt x="0" y="0"/>
                </a:moveTo>
                <a:lnTo>
                  <a:pt x="2737374" y="0"/>
                </a:lnTo>
                <a:lnTo>
                  <a:pt x="2737374" y="681069"/>
                </a:lnTo>
                <a:lnTo>
                  <a:pt x="0" y="681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828736" y="6873041"/>
            <a:ext cx="4837066" cy="936206"/>
          </a:xfrm>
          <a:custGeom>
            <a:avLst/>
            <a:gdLst/>
            <a:ahLst/>
            <a:cxnLst/>
            <a:rect l="l" t="t" r="r" b="b"/>
            <a:pathLst>
              <a:path w="4837066" h="936206">
                <a:moveTo>
                  <a:pt x="0" y="0"/>
                </a:moveTo>
                <a:lnTo>
                  <a:pt x="4837066" y="0"/>
                </a:lnTo>
                <a:lnTo>
                  <a:pt x="4837066" y="936206"/>
                </a:lnTo>
                <a:lnTo>
                  <a:pt x="0" y="936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0385302" y="8704331"/>
            <a:ext cx="6873998" cy="1159987"/>
          </a:xfrm>
          <a:custGeom>
            <a:avLst/>
            <a:gdLst/>
            <a:ahLst/>
            <a:cxnLst/>
            <a:rect l="l" t="t" r="r" b="b"/>
            <a:pathLst>
              <a:path w="6873998" h="1159987">
                <a:moveTo>
                  <a:pt x="0" y="0"/>
                </a:moveTo>
                <a:lnTo>
                  <a:pt x="6873998" y="0"/>
                </a:lnTo>
                <a:lnTo>
                  <a:pt x="6873998" y="1159987"/>
                </a:lnTo>
                <a:lnTo>
                  <a:pt x="0" y="1159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2492126" y="9042419"/>
            <a:ext cx="5620433" cy="526258"/>
          </a:xfrm>
          <a:custGeom>
            <a:avLst/>
            <a:gdLst/>
            <a:ahLst/>
            <a:cxnLst/>
            <a:rect l="l" t="t" r="r" b="b"/>
            <a:pathLst>
              <a:path w="5620433" h="526258">
                <a:moveTo>
                  <a:pt x="0" y="0"/>
                </a:moveTo>
                <a:lnTo>
                  <a:pt x="5620434" y="0"/>
                </a:lnTo>
                <a:lnTo>
                  <a:pt x="5620434" y="526258"/>
                </a:lnTo>
                <a:lnTo>
                  <a:pt x="0" y="526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010808" y="53721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Advantages of OOP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325" y="1328590"/>
            <a:ext cx="8269830" cy="45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9"/>
              </a:lnSpc>
            </a:pPr>
            <a:r>
              <a:rPr lang="en-US" sz="2899" b="1">
                <a:solidFill>
                  <a:srgbClr val="17096D"/>
                </a:solidFill>
                <a:latin typeface="Garet Bold"/>
                <a:ea typeface="Garet Bold"/>
                <a:cs typeface="Garet Bold"/>
                <a:sym typeface="Garet Bold"/>
              </a:rPr>
              <a:t>Advantages of object encapsulation: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4510" y="5668258"/>
            <a:ext cx="3206791" cy="37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851" lvl="1" indent="-252926" algn="ctr">
              <a:lnSpc>
                <a:spcPts val="3045"/>
              </a:lnSpc>
              <a:buFont typeface="Arial"/>
              <a:buChar char="•"/>
            </a:pPr>
            <a:r>
              <a:rPr lang="en-US" sz="2342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@staticmethod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145" y="6196972"/>
            <a:ext cx="6890280" cy="34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need to instance a object to call the method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3382" y="6693101"/>
            <a:ext cx="811587" cy="34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e.g.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338629"/>
            <a:ext cx="14786842" cy="24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1"/>
              </a:lnSpc>
            </a:pPr>
            <a:r>
              <a:rPr lang="en-US" sz="225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Modular design：</a:t>
            </a:r>
            <a:r>
              <a:rPr lang="en-US" sz="22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easier to manage and debug</a:t>
            </a:r>
          </a:p>
          <a:p>
            <a:pPr algn="just">
              <a:lnSpc>
                <a:spcPts val="3471"/>
              </a:lnSpc>
            </a:pPr>
            <a:r>
              <a:rPr lang="en-US" sz="225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Clearer Interface：</a:t>
            </a:r>
            <a:r>
              <a:rPr lang="en-US" sz="22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directly use the object instance, no need to focus on how the function work</a:t>
            </a:r>
          </a:p>
          <a:p>
            <a:pPr algn="just">
              <a:lnSpc>
                <a:spcPts val="3471"/>
              </a:lnSpc>
            </a:pPr>
            <a:r>
              <a:rPr lang="en-US" sz="225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Protection：</a:t>
            </a:r>
            <a:r>
              <a:rPr lang="en-US" sz="22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prevents data be modified accidentally</a:t>
            </a:r>
          </a:p>
          <a:p>
            <a:pPr algn="just">
              <a:lnSpc>
                <a:spcPts val="3471"/>
              </a:lnSpc>
              <a:spcBef>
                <a:spcPct val="0"/>
              </a:spcBef>
            </a:pPr>
            <a:r>
              <a:rPr lang="en-US" sz="225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Scalability：</a:t>
            </a:r>
            <a:r>
              <a:rPr lang="en-US" sz="22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easier to extend the program (e.g., adding new types of dataset)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25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Easier Method Usage：</a:t>
            </a:r>
          </a:p>
          <a:p>
            <a:pPr algn="ctr">
              <a:lnSpc>
                <a:spcPts val="2930"/>
              </a:lnSpc>
              <a:spcBef>
                <a:spcPct val="0"/>
              </a:spcBef>
            </a:pPr>
            <a:endParaRPr lang="en-US" sz="2254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93514" y="8116421"/>
            <a:ext cx="3657327" cy="37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851" lvl="1" indent="-252926" algn="ctr">
              <a:lnSpc>
                <a:spcPts val="3045"/>
              </a:lnSpc>
              <a:buFont typeface="Arial"/>
              <a:buChar char="•"/>
            </a:pPr>
            <a:r>
              <a:rPr lang="en-US" sz="2342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@abstractmethod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4494" y="8482584"/>
            <a:ext cx="5620433" cy="364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215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not accessible from outside the class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85302" y="6059810"/>
            <a:ext cx="5723933" cy="68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Allow operator overloading</a:t>
            </a:r>
          </a:p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(customize built-in operators like +)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79509" y="6929814"/>
            <a:ext cx="811587" cy="34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e.g.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1252" y="9104384"/>
            <a:ext cx="811587" cy="34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e.g.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3382" y="9104384"/>
            <a:ext cx="811587" cy="34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211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e.g.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3382" y="7876126"/>
            <a:ext cx="3206791" cy="37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851" lvl="1" indent="-252926" algn="ctr">
              <a:lnSpc>
                <a:spcPts val="3045"/>
              </a:lnSpc>
              <a:buFont typeface="Arial"/>
              <a:buChar char="•"/>
            </a:pPr>
            <a:r>
              <a:rPr lang="en-US" sz="2342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private method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32839" y="5584873"/>
            <a:ext cx="3206791" cy="37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851" lvl="1" indent="-252926" algn="ctr">
              <a:lnSpc>
                <a:spcPts val="3045"/>
              </a:lnSpc>
              <a:buFont typeface="Arial"/>
              <a:buChar char="•"/>
            </a:pPr>
            <a:r>
              <a:rPr lang="en-US" sz="2342" b="1">
                <a:solidFill>
                  <a:srgbClr val="5E17EB"/>
                </a:solidFill>
                <a:latin typeface="Garet Bold"/>
                <a:ea typeface="Garet Bold"/>
                <a:cs typeface="Garet Bold"/>
                <a:sym typeface="Garet Bold"/>
              </a:rPr>
              <a:t>magic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5878" y="1872574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9" y="0"/>
                </a:lnTo>
                <a:lnTo>
                  <a:pt x="1130125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10808" y="53721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Code Review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317344" y="2005700"/>
            <a:ext cx="5959790" cy="1901292"/>
            <a:chOff x="0" y="0"/>
            <a:chExt cx="7946386" cy="2535056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7946386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.isocalendar()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22859"/>
              <a:ext cx="7946386" cy="1912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It return the date according to ISO standard</a:t>
              </a:r>
            </a:p>
            <a:p>
              <a:pPr marL="949959" lvl="2" indent="-316653" algn="l">
                <a:lnSpc>
                  <a:spcPts val="2859"/>
                </a:lnSpc>
                <a:buFont typeface="Arial"/>
                <a:buChar char="⚬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e.g. 30/12/2024 → 2025-W01</a:t>
              </a:r>
            </a:p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17344" y="4076807"/>
            <a:ext cx="5959790" cy="2263242"/>
            <a:chOff x="0" y="0"/>
            <a:chExt cx="7946386" cy="3017656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7946386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.</a:t>
              </a:r>
              <a:r>
                <a:rPr lang="en-US" sz="2499" b="1" dirty="0" err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zfill</a:t>
              </a: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(2)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22859"/>
              <a:ext cx="7946386" cy="2394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It fill the number with zeros</a:t>
              </a:r>
            </a:p>
            <a:p>
              <a:pPr marL="474979" lvl="1" indent="-237490" algn="l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2 means 2 digits</a:t>
              </a:r>
            </a:p>
            <a:p>
              <a:pPr marL="949959" lvl="2" indent="-316653" algn="l">
                <a:lnSpc>
                  <a:spcPts val="2859"/>
                </a:lnSpc>
                <a:buFont typeface="Arial"/>
                <a:buChar char="⚬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1 → 01; 12 → 12</a:t>
              </a:r>
            </a:p>
            <a:p>
              <a:pPr marL="949959" lvl="2" indent="-316653" algn="l">
                <a:lnSpc>
                  <a:spcPts val="2859"/>
                </a:lnSpc>
                <a:buFont typeface="Arial"/>
                <a:buChar char="⚬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It is used to format Year_week</a:t>
              </a:r>
            </a:p>
            <a:p>
              <a:pPr marL="949959" lvl="2" indent="-316653" algn="l">
                <a:lnSpc>
                  <a:spcPts val="285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e.g. 2025-W02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28210" y="6875084"/>
            <a:ext cx="5959790" cy="1539342"/>
            <a:chOff x="0" y="0"/>
            <a:chExt cx="7946386" cy="20524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7946386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.strftime(2)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22859"/>
              <a:ext cx="7946386" cy="142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Since isocalendar is different</a:t>
              </a:r>
            </a:p>
            <a:p>
              <a:pPr marL="474979" lvl="1" indent="-237490" algn="l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String formatted time</a:t>
              </a:r>
            </a:p>
            <a:p>
              <a:pPr marL="474979" lvl="1" indent="-237490" algn="l">
                <a:lnSpc>
                  <a:spcPts val="28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%Y  → Year; %m → Month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 flipV="1">
            <a:off x="3584257" y="6903659"/>
            <a:ext cx="1461466" cy="0"/>
          </a:xfrm>
          <a:prstGeom prst="line">
            <a:avLst/>
          </a:prstGeom>
          <a:ln w="57150" cap="flat">
            <a:solidFill>
              <a:srgbClr val="FF6F6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 flipH="1" flipV="1">
            <a:off x="5258407" y="5543438"/>
            <a:ext cx="1461466" cy="0"/>
          </a:xfrm>
          <a:prstGeom prst="line">
            <a:avLst/>
          </a:prstGeom>
          <a:ln w="57150" cap="flat">
            <a:solidFill>
              <a:srgbClr val="FF6F6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 flipH="1" flipV="1">
            <a:off x="6316508" y="7441569"/>
            <a:ext cx="1837516" cy="0"/>
          </a:xfrm>
          <a:prstGeom prst="line">
            <a:avLst/>
          </a:prstGeom>
          <a:ln w="57150" cap="flat">
            <a:solidFill>
              <a:srgbClr val="FF6F6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B5F7-DB20-6F56-CD81-650C7364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816830F-5248-4622-69C3-7008F950D054}"/>
              </a:ext>
            </a:extLst>
          </p:cNvPr>
          <p:cNvSpPr txBox="1"/>
          <p:nvPr/>
        </p:nvSpPr>
        <p:spPr>
          <a:xfrm>
            <a:off x="1010808" y="53721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Structure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Code Review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95EF65-C1FF-2B4F-94C7-E9185F070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836" y="2407607"/>
            <a:ext cx="7049356" cy="23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3">
            <a:extLst>
              <a:ext uri="{FF2B5EF4-FFF2-40B4-BE49-F238E27FC236}">
                <a16:creationId xmlns:a16="http://schemas.microsoft.com/office/drawing/2014/main" id="{818BE259-1399-3CF5-37C7-928A5D10205D}"/>
              </a:ext>
            </a:extLst>
          </p:cNvPr>
          <p:cNvSpPr/>
          <p:nvPr/>
        </p:nvSpPr>
        <p:spPr>
          <a:xfrm>
            <a:off x="1010808" y="2247900"/>
            <a:ext cx="8622393" cy="6143455"/>
          </a:xfrm>
          <a:custGeom>
            <a:avLst/>
            <a:gdLst/>
            <a:ahLst/>
            <a:cxnLst/>
            <a:rect l="l" t="t" r="r" b="b"/>
            <a:pathLst>
              <a:path w="8622393" h="6143455">
                <a:moveTo>
                  <a:pt x="0" y="0"/>
                </a:moveTo>
                <a:lnTo>
                  <a:pt x="8622393" y="0"/>
                </a:lnTo>
                <a:lnTo>
                  <a:pt x="8622393" y="6143455"/>
                </a:lnTo>
                <a:lnTo>
                  <a:pt x="0" y="6143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FC0AEF8F-C483-ED3C-FB8A-12F6477FED3E}"/>
              </a:ext>
            </a:extLst>
          </p:cNvPr>
          <p:cNvSpPr txBox="1"/>
          <p:nvPr/>
        </p:nvSpPr>
        <p:spPr>
          <a:xfrm>
            <a:off x="1010808" y="1848643"/>
            <a:ext cx="5344009" cy="40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Method example: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283DB9E-FCA2-45C1-3477-E6C971773575}"/>
              </a:ext>
            </a:extLst>
          </p:cNvPr>
          <p:cNvSpPr txBox="1"/>
          <p:nvPr/>
        </p:nvSpPr>
        <p:spPr>
          <a:xfrm>
            <a:off x="10240346" y="1875370"/>
            <a:ext cx="5344009" cy="40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Output:</a:t>
            </a:r>
          </a:p>
        </p:txBody>
      </p:sp>
    </p:spTree>
    <p:extLst>
      <p:ext uri="{BB962C8B-B14F-4D97-AF65-F5344CB8AC3E}">
        <p14:creationId xmlns:p14="http://schemas.microsoft.com/office/powerpoint/2010/main" val="217387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9110" y="4617095"/>
            <a:ext cx="86287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spc="-1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Basic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457" y="2350625"/>
            <a:ext cx="10795489" cy="780729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952927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Business insights from total overtime for each employee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25400" y="2796540"/>
            <a:ext cx="7473986" cy="467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Employee Performance Review</a:t>
            </a:r>
          </a:p>
          <a:p>
            <a:pPr algn="l">
              <a:lnSpc>
                <a:spcPts val="3119"/>
              </a:lnSpc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Alice Johnson (101) : 3 - Satisfactory</a:t>
            </a:r>
          </a:p>
          <a:p>
            <a:pPr algn="l">
              <a:lnSpc>
                <a:spcPts val="3119"/>
              </a:lnSpc>
            </a:pPr>
            <a:endParaRPr lang="en-US" sz="23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Bob Smith (102) : 4 - Meeting Expectations</a:t>
            </a:r>
          </a:p>
          <a:p>
            <a:pPr algn="l">
              <a:lnSpc>
                <a:spcPts val="3119"/>
              </a:lnSpc>
            </a:pPr>
            <a:endParaRPr lang="en-US" sz="23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119"/>
              </a:lnSpc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Charlie Brown (103) : 5 - Exceeding Expectations</a:t>
            </a:r>
          </a:p>
          <a:p>
            <a:pPr algn="l">
              <a:lnSpc>
                <a:spcPts val="3119"/>
              </a:lnSpc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David Wilson (104) : 4 - Meeting Expectations</a:t>
            </a:r>
          </a:p>
          <a:p>
            <a:pPr algn="l">
              <a:lnSpc>
                <a:spcPts val="3119"/>
              </a:lnSpc>
            </a:pPr>
            <a:endParaRPr lang="en-US" sz="23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Emma Davis (105) :  3 - Satisfactory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1151" y="2714944"/>
            <a:ext cx="509845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</a:t>
            </a:r>
            <a:r>
              <a:rPr lang="en-US" sz="24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Overtime for Each Employee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8585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Basic Features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Overtime vs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061" y="1550794"/>
            <a:ext cx="9455214" cy="828418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42508" y="4374868"/>
            <a:ext cx="6852860" cy="1537263"/>
          </a:xfrm>
          <a:custGeom>
            <a:avLst/>
            <a:gdLst/>
            <a:ahLst/>
            <a:cxnLst/>
            <a:rect l="l" t="t" r="r" b="b"/>
            <a:pathLst>
              <a:path w="6852860" h="1537263">
                <a:moveTo>
                  <a:pt x="0" y="0"/>
                </a:moveTo>
                <a:lnTo>
                  <a:pt x="6852860" y="0"/>
                </a:lnTo>
                <a:lnTo>
                  <a:pt x="6852860" y="1537264"/>
                </a:lnTo>
                <a:lnTo>
                  <a:pt x="0" y="153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75560" y="1827007"/>
            <a:ext cx="7491989" cy="216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Three attributes:</a:t>
            </a:r>
          </a:p>
          <a:p>
            <a:pPr marL="448435" lvl="1" indent="-224218" algn="l">
              <a:lnSpc>
                <a:spcPts val="2907"/>
              </a:lnSpc>
              <a:buFont typeface="Arial"/>
              <a:buChar char="•"/>
            </a:pPr>
            <a:r>
              <a:rPr lang="en-US" sz="20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 score</a:t>
            </a:r>
          </a:p>
          <a:p>
            <a:pPr marL="448435" lvl="1" indent="-224218" algn="l">
              <a:lnSpc>
                <a:spcPts val="2907"/>
              </a:lnSpc>
              <a:buFont typeface="Arial"/>
              <a:buChar char="•"/>
            </a:pPr>
            <a:r>
              <a:rPr lang="en-US" sz="20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Workhour (median)</a:t>
            </a:r>
          </a:p>
          <a:p>
            <a:pPr marL="448435" lvl="1" indent="-224218" algn="l">
              <a:lnSpc>
                <a:spcPts val="2907"/>
              </a:lnSpc>
              <a:buFont typeface="Arial"/>
              <a:buChar char="•"/>
            </a:pPr>
            <a:r>
              <a:rPr lang="en-US" sz="20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Days Missed Penalty</a:t>
            </a:r>
          </a:p>
          <a:p>
            <a:pPr algn="l">
              <a:lnSpc>
                <a:spcPts val="2907"/>
              </a:lnSpc>
            </a:pPr>
            <a:endParaRPr lang="en-US" sz="207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07"/>
              </a:lnSpc>
            </a:pPr>
            <a:endParaRPr lang="en-US" sz="207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5560" y="6099175"/>
            <a:ext cx="8006892" cy="315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Performance Score,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numeric rating extracted from review (1-5)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Median Hours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median “Hours Worked” per entry for employee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Days Missed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number of scheduled weekdays with no time-log entries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Days Missed Penalty,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difference between the maximum days of the employees worked and each employees worked days, divided by the maximum days.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5560" y="3880388"/>
            <a:ext cx="721407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Productivity Ranking Formula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04164" y="2003448"/>
            <a:ext cx="3783112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 Productivity 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9175" y="102616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Basic Features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Productivity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9110" y="4617095"/>
            <a:ext cx="86287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spc="-1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447" y="7830156"/>
            <a:ext cx="12630723" cy="489441"/>
          </a:xfrm>
          <a:custGeom>
            <a:avLst/>
            <a:gdLst/>
            <a:ahLst/>
            <a:cxnLst/>
            <a:rect l="l" t="t" r="r" b="b"/>
            <a:pathLst>
              <a:path w="12630723" h="489441">
                <a:moveTo>
                  <a:pt x="0" y="0"/>
                </a:moveTo>
                <a:lnTo>
                  <a:pt x="12630724" y="0"/>
                </a:lnTo>
                <a:lnTo>
                  <a:pt x="12630724" y="489441"/>
                </a:lnTo>
                <a:lnTo>
                  <a:pt x="0" y="48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1504447" y="3250078"/>
            <a:ext cx="12630723" cy="3631333"/>
          </a:xfrm>
          <a:custGeom>
            <a:avLst/>
            <a:gdLst/>
            <a:ahLst/>
            <a:cxnLst/>
            <a:rect l="l" t="t" r="r" b="b"/>
            <a:pathLst>
              <a:path w="12630723" h="3631333">
                <a:moveTo>
                  <a:pt x="0" y="0"/>
                </a:moveTo>
                <a:lnTo>
                  <a:pt x="12630724" y="0"/>
                </a:lnTo>
                <a:lnTo>
                  <a:pt x="12630724" y="3631333"/>
                </a:lnTo>
                <a:lnTo>
                  <a:pt x="0" y="3631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2089933"/>
            <a:ext cx="15808557" cy="116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119"/>
              </a:lnSpc>
              <a:buFont typeface="Arial"/>
              <a:buChar char="•"/>
            </a:pPr>
            <a:r>
              <a:rPr lang="en-US" sz="2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Enables customized reports for audits, team reviews, or business cycles without modifying the dataset.</a:t>
            </a:r>
          </a:p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endParaRPr lang="en-US" sz="2399" u="none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04447" y="7422435"/>
            <a:ext cx="5344009" cy="815442"/>
            <a:chOff x="0" y="0"/>
            <a:chExt cx="7125346" cy="1087256"/>
          </a:xfrm>
        </p:grpSpPr>
        <p:sp>
          <p:nvSpPr>
            <p:cNvPr id="6" name="TextBox 6"/>
            <p:cNvSpPr txBox="1"/>
            <p:nvPr/>
          </p:nvSpPr>
          <p:spPr>
            <a:xfrm>
              <a:off x="0" y="-28575"/>
              <a:ext cx="7125346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How to use：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22859"/>
              <a:ext cx="7125346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19175" y="1026160"/>
            <a:ext cx="142864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Features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Date Filter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69438" y="4377716"/>
            <a:ext cx="12679527" cy="5045233"/>
          </a:xfrm>
          <a:custGeom>
            <a:avLst/>
            <a:gdLst/>
            <a:ahLst/>
            <a:cxnLst/>
            <a:rect l="l" t="t" r="r" b="b"/>
            <a:pathLst>
              <a:path w="12679527" h="5045233">
                <a:moveTo>
                  <a:pt x="0" y="0"/>
                </a:moveTo>
                <a:lnTo>
                  <a:pt x="12679526" y="0"/>
                </a:lnTo>
                <a:lnTo>
                  <a:pt x="12679526" y="5045233"/>
                </a:lnTo>
                <a:lnTo>
                  <a:pt x="0" y="5045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" t="-4492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019175" y="1517650"/>
            <a:ext cx="16780052" cy="2438551"/>
            <a:chOff x="0" y="0"/>
            <a:chExt cx="22373403" cy="3251401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22373403" cy="559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86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9491"/>
              <a:ext cx="22373403" cy="2581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19"/>
                </a:lnSpc>
                <a:buFont typeface="Arial"/>
                <a:buChar char="•"/>
              </a:pPr>
              <a:r>
                <a:rPr lang="en-US" sz="23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Detect employees </a:t>
              </a:r>
              <a:r>
                <a:rPr lang="en-US" sz="2399" b="1" u="non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who rely heavily on weekend</a:t>
              </a:r>
              <a:r>
                <a:rPr lang="en-US" sz="23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work</a:t>
              </a:r>
            </a:p>
            <a:p>
              <a:pPr algn="l">
                <a:lnSpc>
                  <a:spcPts val="3119"/>
                </a:lnSpc>
              </a:pPr>
              <a:endParaRPr lang="en-US" sz="2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marL="518160" lvl="1" indent="-259080" algn="l">
                <a:lnSpc>
                  <a:spcPts val="31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Proactively catch </a:t>
              </a:r>
              <a:r>
                <a:rPr lang="en-US" sz="2399" b="1" u="non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signs of overcompensation</a:t>
              </a:r>
              <a:r>
                <a:rPr lang="en-US" sz="23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that might indicate understaffing, unrealistic targets, or operational issues.</a:t>
              </a:r>
            </a:p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endParaRPr lang="en-US" sz="23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9175" y="1026160"/>
            <a:ext cx="1350953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Features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Weekday vs Weekend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32159" y="4087522"/>
            <a:ext cx="5954085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Weekday Deficit vs Weekend Compensation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1764" y="4478061"/>
            <a:ext cx="11849764" cy="5100316"/>
          </a:xfrm>
          <a:custGeom>
            <a:avLst/>
            <a:gdLst/>
            <a:ahLst/>
            <a:cxnLst/>
            <a:rect l="l" t="t" r="r" b="b"/>
            <a:pathLst>
              <a:path w="11849764" h="5100316">
                <a:moveTo>
                  <a:pt x="0" y="0"/>
                </a:moveTo>
                <a:lnTo>
                  <a:pt x="11849764" y="0"/>
                </a:lnTo>
                <a:lnTo>
                  <a:pt x="11849764" y="5100315"/>
                </a:lnTo>
                <a:lnTo>
                  <a:pt x="0" y="5100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07" r="-89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19175" y="2311702"/>
            <a:ext cx="15732346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Captures the workhour deviation of each employee to their group peers</a:t>
            </a:r>
          </a:p>
          <a:p>
            <a:pPr algn="l">
              <a:lnSpc>
                <a:spcPts val="3120"/>
              </a:lnSpc>
            </a:pPr>
            <a:endParaRPr lang="en-US" sz="24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8160" lvl="1" indent="-259080" algn="l">
              <a:lnSpc>
                <a:spcPts val="3120"/>
              </a:lnSpc>
              <a:buFont typeface="Arial"/>
              <a:buChar char="•"/>
            </a:pPr>
            <a:r>
              <a:rPr lang="en-US" sz="24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Identify highly deviated employee</a:t>
            </a:r>
            <a:r>
              <a:rPr lang="en-US" sz="24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an insight for managers in doing individual development discussions and / or coaching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9175" y="1026160"/>
            <a:ext cx="14379442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Features</a:t>
            </a:r>
            <a:r>
              <a:rPr lang="en-US" sz="3600" spc="-72">
                <a:solidFill>
                  <a:srgbClr val="545454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7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| Quarterly Review: Individual vs Team Workhour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1764" y="4134656"/>
            <a:ext cx="11367168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Individual Workhour Deviation from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9110" y="4617095"/>
            <a:ext cx="86287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spc="-1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79167"/>
            <a:ext cx="7281519" cy="3149257"/>
          </a:xfrm>
          <a:custGeom>
            <a:avLst/>
            <a:gdLst/>
            <a:ahLst/>
            <a:cxnLst/>
            <a:rect l="l" t="t" r="r" b="b"/>
            <a:pathLst>
              <a:path w="7281519" h="3149257">
                <a:moveTo>
                  <a:pt x="0" y="0"/>
                </a:moveTo>
                <a:lnTo>
                  <a:pt x="7281519" y="0"/>
                </a:lnTo>
                <a:lnTo>
                  <a:pt x="7281519" y="3149257"/>
                </a:lnTo>
                <a:lnTo>
                  <a:pt x="0" y="314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654507" y="2379167"/>
            <a:ext cx="8622393" cy="6143455"/>
          </a:xfrm>
          <a:custGeom>
            <a:avLst/>
            <a:gdLst/>
            <a:ahLst/>
            <a:cxnLst/>
            <a:rect l="l" t="t" r="r" b="b"/>
            <a:pathLst>
              <a:path w="8622393" h="6143455">
                <a:moveTo>
                  <a:pt x="0" y="0"/>
                </a:moveTo>
                <a:lnTo>
                  <a:pt x="8622393" y="0"/>
                </a:lnTo>
                <a:lnTo>
                  <a:pt x="8622393" y="6143455"/>
                </a:lnTo>
                <a:lnTo>
                  <a:pt x="0" y="6143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78932" y="932151"/>
            <a:ext cx="1555115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200" spc="-84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 - Basic Feature: Overtime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0136" y="1905774"/>
            <a:ext cx="11225760" cy="7563356"/>
          </a:xfrm>
          <a:custGeom>
            <a:avLst/>
            <a:gdLst/>
            <a:ahLst/>
            <a:cxnLst/>
            <a:rect l="l" t="t" r="r" b="b"/>
            <a:pathLst>
              <a:path w="11225760" h="7563356">
                <a:moveTo>
                  <a:pt x="0" y="0"/>
                </a:moveTo>
                <a:lnTo>
                  <a:pt x="11225759" y="0"/>
                </a:lnTo>
                <a:lnTo>
                  <a:pt x="11225759" y="7563355"/>
                </a:lnTo>
                <a:lnTo>
                  <a:pt x="0" y="7563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878932" y="932151"/>
            <a:ext cx="1555115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 - Basic Feature: Productivity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0686" y="2267308"/>
            <a:ext cx="8295348" cy="5599360"/>
          </a:xfrm>
          <a:custGeom>
            <a:avLst/>
            <a:gdLst/>
            <a:ahLst/>
            <a:cxnLst/>
            <a:rect l="l" t="t" r="r" b="b"/>
            <a:pathLst>
              <a:path w="8295348" h="5599360">
                <a:moveTo>
                  <a:pt x="0" y="0"/>
                </a:moveTo>
                <a:lnTo>
                  <a:pt x="8295348" y="0"/>
                </a:lnTo>
                <a:lnTo>
                  <a:pt x="8295348" y="5599360"/>
                </a:lnTo>
                <a:lnTo>
                  <a:pt x="0" y="55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371722" y="2267308"/>
            <a:ext cx="8249518" cy="5599360"/>
          </a:xfrm>
          <a:custGeom>
            <a:avLst/>
            <a:gdLst/>
            <a:ahLst/>
            <a:cxnLst/>
            <a:rect l="l" t="t" r="r" b="b"/>
            <a:pathLst>
              <a:path w="8249518" h="5599360">
                <a:moveTo>
                  <a:pt x="0" y="0"/>
                </a:moveTo>
                <a:lnTo>
                  <a:pt x="8249518" y="0"/>
                </a:lnTo>
                <a:lnTo>
                  <a:pt x="8249518" y="5599360"/>
                </a:lnTo>
                <a:lnTo>
                  <a:pt x="0" y="55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78932" y="932151"/>
            <a:ext cx="1555115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 - Additional Feature: Weekday vs Weekend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56382" y="1515082"/>
            <a:ext cx="9458297" cy="8205073"/>
          </a:xfrm>
          <a:custGeom>
            <a:avLst/>
            <a:gdLst/>
            <a:ahLst/>
            <a:cxnLst/>
            <a:rect l="l" t="t" r="r" b="b"/>
            <a:pathLst>
              <a:path w="9458297" h="8205073">
                <a:moveTo>
                  <a:pt x="0" y="0"/>
                </a:moveTo>
                <a:lnTo>
                  <a:pt x="9458297" y="0"/>
                </a:lnTo>
                <a:lnTo>
                  <a:pt x="9458297" y="8205073"/>
                </a:lnTo>
                <a:lnTo>
                  <a:pt x="0" y="820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878932" y="630227"/>
            <a:ext cx="1555115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 - Additional Feature: Quarterly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6670" y="1917217"/>
            <a:ext cx="13106529" cy="6782629"/>
          </a:xfrm>
          <a:custGeom>
            <a:avLst/>
            <a:gdLst/>
            <a:ahLst/>
            <a:cxnLst/>
            <a:rect l="l" t="t" r="r" b="b"/>
            <a:pathLst>
              <a:path w="13106529" h="6782629">
                <a:moveTo>
                  <a:pt x="0" y="0"/>
                </a:moveTo>
                <a:lnTo>
                  <a:pt x="13106529" y="0"/>
                </a:lnTo>
                <a:lnTo>
                  <a:pt x="13106529" y="6782629"/>
                </a:lnTo>
                <a:lnTo>
                  <a:pt x="0" y="6782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1B32BE-7E89-3204-B214-DC5D49E8988F}"/>
              </a:ext>
            </a:extLst>
          </p:cNvPr>
          <p:cNvSpPr txBox="1"/>
          <p:nvPr/>
        </p:nvSpPr>
        <p:spPr>
          <a:xfrm>
            <a:off x="878932" y="932151"/>
            <a:ext cx="15551150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200" spc="-84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 - </a:t>
            </a:r>
            <a:r>
              <a:rPr lang="en-US" sz="4400" spc="-72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 Output </a:t>
            </a:r>
            <a:r>
              <a:rPr lang="en-US" altLang="zh-CN" sz="4400" spc="-72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Files</a:t>
            </a:r>
            <a:endParaRPr lang="en-US" sz="4200" spc="-84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681</Words>
  <Application>Microsoft Office PowerPoint</Application>
  <PresentationFormat>Custom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Archivo Black</vt:lpstr>
      <vt:lpstr>Calibri</vt:lpstr>
      <vt:lpstr>Garet Light</vt:lpstr>
      <vt:lpstr>Garet Bold</vt:lpstr>
      <vt:lpstr>Canva Sans Bold</vt:lpstr>
      <vt:lpstr>Garet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cp:lastModifiedBy>jiajie Liao</cp:lastModifiedBy>
  <cp:revision>5</cp:revision>
  <dcterms:created xsi:type="dcterms:W3CDTF">2006-08-16T00:00:00Z</dcterms:created>
  <dcterms:modified xsi:type="dcterms:W3CDTF">2025-04-29T22:08:40Z</dcterms:modified>
  <dc:identifier>DAGlmo2sML4</dc:identifier>
</cp:coreProperties>
</file>